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473952"/>
            <a:ext cx="11045952" cy="0"/>
          </a:xfrm>
          <a:prstGeom prst="line">
            <a:avLst/>
          </a:prstGeom>
          <a:noFill/>
          <a:ln w="12700">
            <a:solidFill>
              <a:srgbClr val="E8E8D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6528816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50" kern="0" dirty="0">
                <a:solidFill>
                  <a:srgbClr val="6F79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FOODIEFINDER  •  ML / NLP MINI-PROJECT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418320" y="652881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50" kern="0" dirty="0">
                <a:solidFill>
                  <a:srgbClr val="6F79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PRESENTATION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214D3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214D3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mkcode11.github.io/foodiefinder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mkcode11.github.io/foodiefinder/" TargetMode="External"/><Relationship Id="rId2" Type="http://schemas.openxmlformats.org/officeDocument/2006/relationships/hyperlink" Target="https://github.com/mkcode11/foodiefinder" TargetMode="Externa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949440" cy="6858000"/>
          </a:xfrm>
          <a:prstGeom prst="rect">
            <a:avLst/>
          </a:prstGeom>
          <a:solidFill>
            <a:srgbClr val="17392A"/>
          </a:solidFill>
          <a:ln w="12700">
            <a:solidFill>
              <a:srgbClr val="17392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257800" y="502920"/>
            <a:ext cx="914400" cy="914400"/>
          </a:xfrm>
          <a:prstGeom prst="ellipse">
            <a:avLst/>
          </a:prstGeom>
          <a:solidFill>
            <a:srgbClr val="214D3A"/>
          </a:solidFill>
          <a:ln w="12700">
            <a:solidFill>
              <a:srgbClr val="214D3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97880" y="5440680"/>
            <a:ext cx="1371600" cy="1371600"/>
          </a:xfrm>
          <a:prstGeom prst="ellipse">
            <a:avLst/>
          </a:prstGeom>
          <a:solidFill>
            <a:srgbClr val="214634"/>
          </a:solidFill>
          <a:ln w="12700">
            <a:solidFill>
              <a:srgbClr val="21463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5440680"/>
            <a:ext cx="292608" cy="292608"/>
          </a:xfrm>
          <a:prstGeom prst="ellipse">
            <a:avLst/>
          </a:prstGeom>
          <a:solidFill>
            <a:srgbClr val="E77B45"/>
          </a:solidFill>
          <a:ln w="12700">
            <a:solidFill>
              <a:srgbClr val="E77B45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640080"/>
            <a:ext cx="493776" cy="493776"/>
          </a:xfrm>
          <a:prstGeom prst="roundRect">
            <a:avLst>
              <a:gd name="adj" fmla="val 22222"/>
            </a:avLst>
          </a:prstGeom>
          <a:solidFill>
            <a:srgbClr val="214D3A"/>
          </a:solidFill>
          <a:ln w="12700">
            <a:solidFill>
              <a:srgbClr val="214D3A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22376" y="6446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28" b="1" dirty="0">
                <a:solidFill>
                  <a:srgbClr val="E77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✦</a:t>
            </a:r>
            <a:endParaRPr lang="en-US" sz="1728" dirty="0"/>
          </a:p>
        </p:txBody>
      </p:sp>
      <p:sp>
        <p:nvSpPr>
          <p:cNvPr id="8" name="Text 6"/>
          <p:cNvSpPr txBox="1"/>
          <p:nvPr/>
        </p:nvSpPr>
        <p:spPr>
          <a:xfrm>
            <a:off x="1307592" y="67665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spc="11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FOODIEFINDER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49808" y="1645920"/>
            <a:ext cx="2139696" cy="274320"/>
          </a:xfrm>
          <a:prstGeom prst="roundRect">
            <a:avLst>
              <a:gd name="adj" fmla="val 40000"/>
            </a:avLst>
          </a:prstGeom>
          <a:solidFill>
            <a:srgbClr val="2B5944"/>
          </a:solidFill>
          <a:ln w="12700">
            <a:solidFill>
              <a:srgbClr val="2B5944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1655064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35" kern="0" dirty="0">
                <a:solidFill>
                  <a:srgbClr val="F8F4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 &amp; NLP MINI-PROJECT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2148840"/>
            <a:ext cx="5852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RESTAURANT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RECOMMENDATION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CHATBOT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768096" y="4224528"/>
            <a:ext cx="5303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DCE7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conversational food guide for discovering places by location, budget, cuisine and dining experience.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68096" y="58704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E77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DEMO</a:t>
            </a:r>
            <a:endParaRPr lang="en-US" sz="900" dirty="0"/>
          </a:p>
        </p:txBody>
      </p:sp>
      <p:sp>
        <p:nvSpPr>
          <p:cNvPr id="14" name="Text 12">
            <a:hlinkClick r:id="rId1" tooltip=""/>
          </p:cNvPr>
          <p:cNvSpPr txBox="1"/>
          <p:nvPr/>
        </p:nvSpPr>
        <p:spPr>
          <a:xfrm>
            <a:off x="768096" y="6099048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mkcode11.github.io/foodiefinder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60920" y="566928"/>
            <a:ext cx="4187952" cy="5632704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 w="12700">
            <a:solidFill>
              <a:srgbClr val="E8E8D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26096" y="822960"/>
            <a:ext cx="91440" cy="91440"/>
          </a:xfrm>
          <a:prstGeom prst="ellipse">
            <a:avLst/>
          </a:prstGeom>
          <a:solidFill>
            <a:srgbClr val="E8A08D"/>
          </a:solidFill>
          <a:ln w="12700">
            <a:solidFill>
              <a:srgbClr val="E8A08D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90688" y="822960"/>
            <a:ext cx="91440" cy="91440"/>
          </a:xfrm>
          <a:prstGeom prst="ellipse">
            <a:avLst/>
          </a:prstGeom>
          <a:solidFill>
            <a:srgbClr val="E8C77B"/>
          </a:solidFill>
          <a:ln w="12700">
            <a:solidFill>
              <a:srgbClr val="E8C77B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822960"/>
            <a:ext cx="91440" cy="91440"/>
          </a:xfrm>
          <a:prstGeom prst="ellipse">
            <a:avLst/>
          </a:prstGeom>
          <a:solidFill>
            <a:srgbClr val="90B99A"/>
          </a:solidFill>
          <a:ln w="12700">
            <a:solidFill>
              <a:srgbClr val="90B99A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34656" y="1069848"/>
            <a:ext cx="3831336" cy="0"/>
          </a:xfrm>
          <a:prstGeom prst="line">
            <a:avLst/>
          </a:prstGeom>
          <a:noFill/>
          <a:ln w="12700">
            <a:solidFill>
              <a:srgbClr val="E8E8D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62672" y="1271016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214D3A"/>
          </a:solidFill>
          <a:ln w="12700">
            <a:solidFill>
              <a:srgbClr val="214D3A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671816" y="12755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E77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✦</a:t>
            </a:r>
            <a:endParaRPr lang="en-US" sz="1280" dirty="0"/>
          </a:p>
        </p:txBody>
      </p:sp>
      <p:sp>
        <p:nvSpPr>
          <p:cNvPr id="22" name="Text 20"/>
          <p:cNvSpPr txBox="1"/>
          <p:nvPr/>
        </p:nvSpPr>
        <p:spPr>
          <a:xfrm>
            <a:off x="8147304" y="129844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39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FoodieFinder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680960" y="18562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10" kern="0" dirty="0">
                <a:solidFill>
                  <a:srgbClr val="E77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PERSONAL FOOD GUIDE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7680960" y="2121408"/>
            <a:ext cx="3474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39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Craving something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1739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great?</a:t>
            </a:r>
            <a:endParaRPr lang="en-US" sz="2800" dirty="0"/>
          </a:p>
        </p:txBody>
      </p:sp>
      <p:sp>
        <p:nvSpPr>
          <p:cNvPr id="25" name="Text 23"/>
          <p:cNvSpPr txBox="1"/>
          <p:nvPr/>
        </p:nvSpPr>
        <p:spPr>
          <a:xfrm>
            <a:off x="7699248" y="310896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F79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a match for your appetite and mood.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680960" y="3630168"/>
            <a:ext cx="1234440" cy="274320"/>
          </a:xfrm>
          <a:prstGeom prst="roundRect">
            <a:avLst>
              <a:gd name="adj" fmla="val 40000"/>
            </a:avLst>
          </a:prstGeom>
          <a:solidFill>
            <a:srgbClr val="EAF0E9"/>
          </a:solidFill>
          <a:ln w="12700">
            <a:solidFill>
              <a:srgbClr val="EAF0E9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54112" y="3639312"/>
            <a:ext cx="1088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35" kern="0" dirty="0">
                <a:solidFill>
                  <a:srgbClr val="1739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🍜  Cuisine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034272" y="3630168"/>
            <a:ext cx="1124712" cy="274320"/>
          </a:xfrm>
          <a:prstGeom prst="roundRect">
            <a:avLst>
              <a:gd name="adj" fmla="val 40000"/>
            </a:avLst>
          </a:prstGeom>
          <a:solidFill>
            <a:srgbClr val="FFF0E6"/>
          </a:solidFill>
          <a:ln w="12700">
            <a:solidFill>
              <a:srgbClr val="FFF0E6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107424" y="3639312"/>
            <a:ext cx="978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35" kern="0" dirty="0">
                <a:solidFill>
                  <a:srgbClr val="1739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  Budget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268712" y="3630168"/>
            <a:ext cx="941832" cy="274320"/>
          </a:xfrm>
          <a:prstGeom prst="roundRect">
            <a:avLst>
              <a:gd name="adj" fmla="val 40000"/>
            </a:avLst>
          </a:prstGeom>
          <a:solidFill>
            <a:srgbClr val="EAF0E9"/>
          </a:solidFill>
          <a:ln w="12700">
            <a:solidFill>
              <a:srgbClr val="EAF0E9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341864" y="3639312"/>
            <a:ext cx="795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35" kern="0" dirty="0">
                <a:solidFill>
                  <a:srgbClr val="1739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📍  Nearby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653528" y="4105656"/>
            <a:ext cx="3639312" cy="1691640"/>
          </a:xfrm>
          <a:prstGeom prst="roundRect">
            <a:avLst>
              <a:gd name="adj" fmla="val 8649"/>
            </a:avLst>
          </a:prstGeom>
          <a:solidFill>
            <a:srgbClr val="FBFCF9"/>
          </a:solidFill>
          <a:ln w="12700">
            <a:solidFill>
              <a:srgbClr val="E8E8D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854696" y="4297680"/>
            <a:ext cx="292608" cy="292608"/>
          </a:xfrm>
          <a:prstGeom prst="ellipse">
            <a:avLst/>
          </a:prstGeom>
          <a:solidFill>
            <a:srgbClr val="214D3A"/>
          </a:solidFill>
          <a:ln w="12700">
            <a:solidFill>
              <a:srgbClr val="214D3A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854696" y="4306824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🍽️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8238744" y="431596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39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FoodieFinder Assistant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10305288" y="4334256"/>
            <a:ext cx="7498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14D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READY TO HELP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7872984" y="4709160"/>
            <a:ext cx="3090672" cy="502920"/>
          </a:xfrm>
          <a:prstGeom prst="roundRect">
            <a:avLst>
              <a:gd name="adj" fmla="val 21818"/>
            </a:avLst>
          </a:prstGeom>
          <a:solidFill>
            <a:srgbClr val="F1F4EE"/>
          </a:solidFill>
          <a:ln w="12700">
            <a:solidFill>
              <a:srgbClr val="F1F4EE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019288" y="4791456"/>
            <a:ext cx="279806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202B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Tell me your area, budget and favourite food — I’ll help you find a place to eat.</a:t>
            </a:r>
            <a:endParaRPr lang="en-US" sz="940" dirty="0"/>
          </a:p>
        </p:txBody>
      </p:sp>
      <p:sp>
        <p:nvSpPr>
          <p:cNvPr id="39" name="Shape 37"/>
          <p:cNvSpPr/>
          <p:nvPr/>
        </p:nvSpPr>
        <p:spPr>
          <a:xfrm>
            <a:off x="7872984" y="5330952"/>
            <a:ext cx="1252728" cy="274320"/>
          </a:xfrm>
          <a:prstGeom prst="roundRect">
            <a:avLst>
              <a:gd name="adj" fmla="val 40000"/>
            </a:avLst>
          </a:prstGeom>
          <a:solidFill>
            <a:srgbClr val="FFF0E6"/>
          </a:solidFill>
          <a:ln w="12700">
            <a:solidFill>
              <a:srgbClr val="FFF0E6">
                <a:alpha val="0"/>
              </a:srgbClr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946136" y="5340096"/>
            <a:ext cx="1106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35" kern="0" dirty="0">
                <a:solidFill>
                  <a:srgbClr val="1739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Dinner under ₹500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9235440" y="5330952"/>
            <a:ext cx="1207008" cy="274320"/>
          </a:xfrm>
          <a:prstGeom prst="roundRect">
            <a:avLst>
              <a:gd name="adj" fmla="val 40000"/>
            </a:avLst>
          </a:prstGeom>
          <a:solidFill>
            <a:srgbClr val="EAF0E9"/>
          </a:solidFill>
          <a:ln w="12700">
            <a:solidFill>
              <a:srgbClr val="EAF0E9">
                <a:alpha val="0"/>
              </a:srgbClr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308592" y="5340096"/>
            <a:ext cx="10607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35" kern="0" dirty="0">
                <a:solidFill>
                  <a:srgbClr val="1739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Veg near Mulund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7653528" y="5925312"/>
            <a:ext cx="36393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65" kern="0" dirty="0">
                <a:solidFill>
                  <a:srgbClr val="6F79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INTERFACE PREVIEW BASED ON LIVE PAGE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3504" y="310896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E77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•  PROJECT OVERVIEW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03504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39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Food discovery through conversation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1161288"/>
            <a:ext cx="10927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F79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FoodieFinder turns a natural-language request into a guided restaurant discovery experience.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21792" y="1719072"/>
            <a:ext cx="6583680" cy="4059936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8E8D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6112" y="199339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E77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IDEA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331720"/>
            <a:ext cx="57150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39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Tell us what you want.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1739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Get ideas for where to eat.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538728"/>
            <a:ext cx="5623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F79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Instead of navigating long lists and filters, a user can describe their appetite, budget, preferred cuisine, area, or desired ambience in one message.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96112" y="4480560"/>
            <a:ext cx="5989320" cy="0"/>
          </a:xfrm>
          <a:prstGeom prst="line">
            <a:avLst/>
          </a:prstGeom>
          <a:noFill/>
          <a:ln w="12700">
            <a:solidFill>
              <a:srgbClr val="E8E8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23544" y="4773168"/>
            <a:ext cx="109728" cy="109728"/>
          </a:xfrm>
          <a:prstGeom prst="ellipse">
            <a:avLst/>
          </a:prstGeom>
          <a:solidFill>
            <a:srgbClr val="E77B45"/>
          </a:solidFill>
          <a:ln w="12700">
            <a:solidFill>
              <a:srgbClr val="E77B45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33856" y="4700016"/>
            <a:ext cx="54589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02B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web-based food guide with an embedded chat experience.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23544" y="5239512"/>
            <a:ext cx="109728" cy="109728"/>
          </a:xfrm>
          <a:prstGeom prst="ellipse">
            <a:avLst/>
          </a:prstGeom>
          <a:solidFill>
            <a:srgbClr val="E77B45"/>
          </a:solidFill>
          <a:ln w="12700">
            <a:solidFill>
              <a:srgbClr val="E77B45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33856" y="5166360"/>
            <a:ext cx="54589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02B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Recommendations come from the connected chatbot workflow.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479792" y="1719072"/>
            <a:ext cx="4087368" cy="4059936"/>
          </a:xfrm>
          <a:prstGeom prst="roundRect">
            <a:avLst>
              <a:gd name="adj" fmla="val 4054"/>
            </a:avLst>
          </a:prstGeom>
          <a:solidFill>
            <a:srgbClr val="17392A"/>
          </a:solidFill>
          <a:ln w="12700">
            <a:solidFill>
              <a:srgbClr val="17392A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90688" y="20116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E77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DESIGNED AROUND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799832" y="2487168"/>
            <a:ext cx="384048" cy="384048"/>
          </a:xfrm>
          <a:prstGeom prst="ellipse">
            <a:avLst/>
          </a:prstGeom>
          <a:solidFill>
            <a:srgbClr val="315A45"/>
          </a:solidFill>
          <a:ln w="12700">
            <a:solidFill>
              <a:srgbClr val="315A45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99832" y="249631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📍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357616" y="247802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357616" y="274320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C5D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City or neighbourhood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799832" y="3218688"/>
            <a:ext cx="384048" cy="384048"/>
          </a:xfrm>
          <a:prstGeom prst="ellipse">
            <a:avLst/>
          </a:prstGeom>
          <a:solidFill>
            <a:srgbClr val="E77B45"/>
          </a:solidFill>
          <a:ln w="12700">
            <a:solidFill>
              <a:srgbClr val="E77B45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99832" y="322783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357616" y="320954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Budget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357616" y="347472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C5D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Spend range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799832" y="3950208"/>
            <a:ext cx="384048" cy="384048"/>
          </a:xfrm>
          <a:prstGeom prst="ellipse">
            <a:avLst/>
          </a:prstGeom>
          <a:solidFill>
            <a:srgbClr val="315A45"/>
          </a:solidFill>
          <a:ln w="12700">
            <a:solidFill>
              <a:srgbClr val="315A45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99832" y="395935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🍜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8357616" y="394106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Cuisine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357616" y="420624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C5D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food you love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799832" y="4681728"/>
            <a:ext cx="384048" cy="384048"/>
          </a:xfrm>
          <a:prstGeom prst="ellipse">
            <a:avLst/>
          </a:prstGeom>
          <a:solidFill>
            <a:srgbClr val="315A45"/>
          </a:solidFill>
          <a:ln w="12700">
            <a:solidFill>
              <a:srgbClr val="315A45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99832" y="469087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✦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8357616" y="467258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Experience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8357616" y="493776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C5D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Café, date night, dinner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621792" y="6199632"/>
            <a:ext cx="10789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F79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scope is based on the public FoodieFinder page and repository description as a mini-project for ML and NLP.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214D3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3504" y="310896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E77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•  MOTIVATION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03504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39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a conversational food guide?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1161288"/>
            <a:ext cx="10927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F79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focuses on making restaurant discovery feel simpler and more personal.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21792" y="1810512"/>
            <a:ext cx="5074920" cy="38404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8E8D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2121408"/>
            <a:ext cx="475488" cy="475488"/>
          </a:xfrm>
          <a:prstGeom prst="ellipse">
            <a:avLst/>
          </a:prstGeom>
          <a:solidFill>
            <a:srgbClr val="FFF0E6"/>
          </a:solidFill>
          <a:ln w="12700">
            <a:solidFill>
              <a:srgbClr val="FFF0E6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32688" y="2112264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77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!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19456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E77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2770632"/>
            <a:ext cx="4434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739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Too many choices,</a:t>
            </a:r>
            <a:endParaRPr lang="en-US" sz="2500" dirty="0"/>
          </a:p>
          <a:p>
            <a:pPr algn="l" indent="0" marL="0">
              <a:buNone/>
            </a:pPr>
            <a:r>
              <a:rPr lang="en-US" sz="2500" b="1" dirty="0">
                <a:solidFill>
                  <a:srgbClr val="1739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 enough context.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960120" y="3913632"/>
            <a:ext cx="109728" cy="109728"/>
          </a:xfrm>
          <a:prstGeom prst="ellipse">
            <a:avLst/>
          </a:prstGeom>
          <a:solidFill>
            <a:srgbClr val="E77B45"/>
          </a:solidFill>
          <a:ln w="12700">
            <a:solidFill>
              <a:srgbClr val="E77B45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70432" y="3840480"/>
            <a:ext cx="4178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02B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may not know which filters to apply.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0120" y="4443984"/>
            <a:ext cx="109728" cy="109728"/>
          </a:xfrm>
          <a:prstGeom prst="ellipse">
            <a:avLst/>
          </a:prstGeom>
          <a:solidFill>
            <a:srgbClr val="E77B45"/>
          </a:solidFill>
          <a:ln w="12700">
            <a:solidFill>
              <a:srgbClr val="E77B45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70432" y="4370832"/>
            <a:ext cx="4178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02B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Budget, area and cuisine need to be considered together.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60120" y="5056632"/>
            <a:ext cx="109728" cy="109728"/>
          </a:xfrm>
          <a:prstGeom prst="ellipse">
            <a:avLst/>
          </a:prstGeom>
          <a:solidFill>
            <a:srgbClr val="E77B45"/>
          </a:solidFill>
          <a:ln w="12700">
            <a:solidFill>
              <a:srgbClr val="E77B45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170432" y="4983480"/>
            <a:ext cx="4178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02B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restaurant choice can depend on the occasion or mood.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71032" y="1810512"/>
            <a:ext cx="5596128" cy="3840480"/>
          </a:xfrm>
          <a:prstGeom prst="roundRect">
            <a:avLst>
              <a:gd name="adj" fmla="val 4286"/>
            </a:avLst>
          </a:prstGeom>
          <a:solidFill>
            <a:srgbClr val="17392A"/>
          </a:solidFill>
          <a:ln w="12700">
            <a:solidFill>
              <a:srgbClr val="17392A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18504" y="2121408"/>
            <a:ext cx="475488" cy="475488"/>
          </a:xfrm>
          <a:prstGeom prst="ellipse">
            <a:avLst/>
          </a:prstGeom>
          <a:solidFill>
            <a:srgbClr val="315A45"/>
          </a:solidFill>
          <a:ln w="12700">
            <a:solidFill>
              <a:srgbClr val="315A45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18504" y="2121408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2100" dirty="0"/>
          </a:p>
        </p:txBody>
      </p:sp>
      <p:sp>
        <p:nvSpPr>
          <p:cNvPr id="19" name="Text 17"/>
          <p:cNvSpPr txBox="1"/>
          <p:nvPr/>
        </p:nvSpPr>
        <p:spPr>
          <a:xfrm>
            <a:off x="6976872" y="219456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0" kern="0" dirty="0">
                <a:solidFill>
                  <a:srgbClr val="E77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318504" y="2770632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Say what you want.</a:t>
            </a:r>
            <a:endParaRPr lang="en-US" sz="2500" dirty="0"/>
          </a:p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 discovering.</a:t>
            </a:r>
            <a:endParaRPr lang="en-US" sz="2500" dirty="0"/>
          </a:p>
        </p:txBody>
      </p:sp>
      <p:sp>
        <p:nvSpPr>
          <p:cNvPr id="21" name="Shape 19"/>
          <p:cNvSpPr/>
          <p:nvPr/>
        </p:nvSpPr>
        <p:spPr>
          <a:xfrm>
            <a:off x="6355080" y="3913632"/>
            <a:ext cx="109728" cy="109728"/>
          </a:xfrm>
          <a:prstGeom prst="ellipse">
            <a:avLst/>
          </a:prstGeom>
          <a:solidFill>
            <a:srgbClr val="E77B45"/>
          </a:solidFill>
          <a:ln w="12700">
            <a:solidFill>
              <a:srgbClr val="E77B45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65392" y="3840480"/>
            <a:ext cx="4453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FF4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in everyday language rather than a rigid form.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55080" y="4443984"/>
            <a:ext cx="109728" cy="109728"/>
          </a:xfrm>
          <a:prstGeom prst="ellipse">
            <a:avLst/>
          </a:prstGeom>
          <a:solidFill>
            <a:srgbClr val="E77B45"/>
          </a:solidFill>
          <a:ln w="12700">
            <a:solidFill>
              <a:srgbClr val="E77B45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65392" y="4370832"/>
            <a:ext cx="4453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FF4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starter prompts such as “Dinner under ₹500”.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55080" y="5056632"/>
            <a:ext cx="109728" cy="109728"/>
          </a:xfrm>
          <a:prstGeom prst="ellipse">
            <a:avLst/>
          </a:prstGeom>
          <a:solidFill>
            <a:srgbClr val="E77B45"/>
          </a:solidFill>
          <a:ln w="12700">
            <a:solidFill>
              <a:srgbClr val="E77B45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65392" y="4983480"/>
            <a:ext cx="4453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FF4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Continue the conversation with follow-up prompts.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214D3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3504" y="310896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E77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•  PROJECT OBJECTIVES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03504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39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FoodieFinder is designed to do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1161288"/>
            <a:ext cx="10927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F79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capabilities visible in the website and its client-side code.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21792" y="1801368"/>
            <a:ext cx="3493008" cy="1664208"/>
          </a:xfrm>
          <a:prstGeom prst="roundRect">
            <a:avLst>
              <a:gd name="adj" fmla="val 8791"/>
            </a:avLst>
          </a:prstGeom>
          <a:solidFill>
            <a:srgbClr val="FFFFFF"/>
          </a:solidFill>
          <a:ln w="12700">
            <a:solidFill>
              <a:srgbClr val="E8E8D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011680"/>
            <a:ext cx="502920" cy="502920"/>
          </a:xfrm>
          <a:prstGeom prst="roundRect">
            <a:avLst>
              <a:gd name="adj" fmla="val 25455"/>
            </a:avLst>
          </a:prstGeom>
          <a:solidFill>
            <a:srgbClr val="EAF0E9"/>
          </a:solidFill>
          <a:ln w="12700">
            <a:solidFill>
              <a:srgbClr val="EAF0E9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" y="2020824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4D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✎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3364992" y="205740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F79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263347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39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Natural-language input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293522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F79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Let users describe cravings and requirements in a sentence.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98264" y="1801368"/>
            <a:ext cx="3493008" cy="1664208"/>
          </a:xfrm>
          <a:prstGeom prst="roundRect">
            <a:avLst>
              <a:gd name="adj" fmla="val 8791"/>
            </a:avLst>
          </a:prstGeom>
          <a:solidFill>
            <a:srgbClr val="FFFFFF"/>
          </a:solidFill>
          <a:ln w="12700">
            <a:solidFill>
              <a:srgbClr val="E8E8D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2011680"/>
            <a:ext cx="502920" cy="502920"/>
          </a:xfrm>
          <a:prstGeom prst="roundRect">
            <a:avLst>
              <a:gd name="adj" fmla="val 25455"/>
            </a:avLst>
          </a:prstGeom>
          <a:solidFill>
            <a:srgbClr val="EAF0E9"/>
          </a:solidFill>
          <a:ln w="12700">
            <a:solidFill>
              <a:srgbClr val="EAF0E9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17720" y="2020824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4D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⌖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7141464" y="205740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F79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4617720" y="263347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39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Preference cues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617720" y="293522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F79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Requests can include cuisine, budget, location and experience.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174736" y="1801368"/>
            <a:ext cx="3493008" cy="1664208"/>
          </a:xfrm>
          <a:prstGeom prst="roundRect">
            <a:avLst>
              <a:gd name="adj" fmla="val 8791"/>
            </a:avLst>
          </a:prstGeom>
          <a:solidFill>
            <a:srgbClr val="FFFFFF"/>
          </a:solidFill>
          <a:ln w="12700">
            <a:solidFill>
              <a:srgbClr val="E8E8D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94192" y="2011680"/>
            <a:ext cx="502920" cy="502920"/>
          </a:xfrm>
          <a:prstGeom prst="roundRect">
            <a:avLst>
              <a:gd name="adj" fmla="val 25455"/>
            </a:avLst>
          </a:prstGeom>
          <a:solidFill>
            <a:srgbClr val="FFF0E6"/>
          </a:solidFill>
          <a:ln w="12700">
            <a:solidFill>
              <a:srgbClr val="FFF0E6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94192" y="2020824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77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↗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10917936" y="205740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F79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8394192" y="263347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39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shortcuts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394192" y="293522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F79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Clickable examples help users get started quickly.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1792" y="3767328"/>
            <a:ext cx="3493008" cy="1664208"/>
          </a:xfrm>
          <a:prstGeom prst="roundRect">
            <a:avLst>
              <a:gd name="adj" fmla="val 8791"/>
            </a:avLst>
          </a:prstGeom>
          <a:solidFill>
            <a:srgbClr val="FFFFFF"/>
          </a:solidFill>
          <a:ln w="12700">
            <a:solidFill>
              <a:srgbClr val="E8E8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" y="3977640"/>
            <a:ext cx="502920" cy="502920"/>
          </a:xfrm>
          <a:prstGeom prst="roundRect">
            <a:avLst>
              <a:gd name="adj" fmla="val 25455"/>
            </a:avLst>
          </a:prstGeom>
          <a:solidFill>
            <a:srgbClr val="EAF0E9"/>
          </a:solidFill>
          <a:ln w="12700">
            <a:solidFill>
              <a:srgbClr val="EAF0E9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41248" y="3986784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4D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↔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3364992" y="40233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F79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841248" y="459943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39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Conversation context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41248" y="490118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F79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session ID and recent message history travel with the request.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398264" y="3767328"/>
            <a:ext cx="3493008" cy="1664208"/>
          </a:xfrm>
          <a:prstGeom prst="roundRect">
            <a:avLst>
              <a:gd name="adj" fmla="val 8791"/>
            </a:avLst>
          </a:prstGeom>
          <a:solidFill>
            <a:srgbClr val="FFFFFF"/>
          </a:solidFill>
          <a:ln w="12700">
            <a:solidFill>
              <a:srgbClr val="E8E8D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17720" y="3977640"/>
            <a:ext cx="502920" cy="502920"/>
          </a:xfrm>
          <a:prstGeom prst="roundRect">
            <a:avLst>
              <a:gd name="adj" fmla="val 25455"/>
            </a:avLst>
          </a:prstGeom>
          <a:solidFill>
            <a:srgbClr val="FFF0E6"/>
          </a:solidFill>
          <a:ln w="12700">
            <a:solidFill>
              <a:srgbClr val="FFF0E6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617720" y="3986784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77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⚙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7141464" y="40233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F79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4617720" y="459943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39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workflow connection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4617720" y="490118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F79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page posts user messages to an n8n webhook.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174736" y="3767328"/>
            <a:ext cx="3493008" cy="1664208"/>
          </a:xfrm>
          <a:prstGeom prst="roundRect">
            <a:avLst>
              <a:gd name="adj" fmla="val 8791"/>
            </a:avLst>
          </a:prstGeom>
          <a:solidFill>
            <a:srgbClr val="FFFFFF"/>
          </a:solidFill>
          <a:ln w="12700">
            <a:solidFill>
              <a:srgbClr val="E8E8D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394192" y="3977640"/>
            <a:ext cx="502920" cy="502920"/>
          </a:xfrm>
          <a:prstGeom prst="roundRect">
            <a:avLst>
              <a:gd name="adj" fmla="val 25455"/>
            </a:avLst>
          </a:prstGeom>
          <a:solidFill>
            <a:srgbClr val="EAF0E9"/>
          </a:solidFill>
          <a:ln w="12700">
            <a:solidFill>
              <a:srgbClr val="EAF0E9">
                <a:alpha val="0"/>
              </a:srgbClr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394192" y="3986784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4D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☰</a:t>
            </a:r>
            <a:endParaRPr lang="en-US" sz="2000" dirty="0"/>
          </a:p>
        </p:txBody>
      </p:sp>
      <p:sp>
        <p:nvSpPr>
          <p:cNvPr id="38" name="Text 36"/>
          <p:cNvSpPr txBox="1"/>
          <p:nvPr/>
        </p:nvSpPr>
        <p:spPr>
          <a:xfrm>
            <a:off x="10917936" y="40233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F79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8394192" y="459943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39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chat controls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8394192" y="490118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F79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Typing state, send handling, follow-up suggestions and new chat.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621792" y="6199632"/>
            <a:ext cx="10789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F79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exact AI model and detailed recommendation logic are configured outside the static website and are not specified in the public repository description.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214D3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3504" y="310896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E77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 •  USER INTERFACE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03504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39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clean, focused chat experience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1161288"/>
            <a:ext cx="10927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F79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live site’s visual language: warm cream background, forest green, orange accents and a single conversation panel.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21792" y="1709928"/>
            <a:ext cx="7424928" cy="43434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8E8D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" y="1947672"/>
            <a:ext cx="91440" cy="91440"/>
          </a:xfrm>
          <a:prstGeom prst="ellipse">
            <a:avLst/>
          </a:prstGeom>
          <a:solidFill>
            <a:srgbClr val="E8A08D"/>
          </a:solidFill>
          <a:ln w="12700">
            <a:solidFill>
              <a:srgbClr val="E8A08D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42416" y="1947672"/>
            <a:ext cx="91440" cy="91440"/>
          </a:xfrm>
          <a:prstGeom prst="ellipse">
            <a:avLst/>
          </a:prstGeom>
          <a:solidFill>
            <a:srgbClr val="E8C77B"/>
          </a:solidFill>
          <a:ln w="12700">
            <a:solidFill>
              <a:srgbClr val="E8C77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07008" y="1947672"/>
            <a:ext cx="91440" cy="91440"/>
          </a:xfrm>
          <a:prstGeom prst="ellipse">
            <a:avLst/>
          </a:prstGeom>
          <a:solidFill>
            <a:srgbClr val="90B99A"/>
          </a:solidFill>
          <a:ln w="12700">
            <a:solidFill>
              <a:srgbClr val="90B99A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" y="2212848"/>
            <a:ext cx="7050024" cy="0"/>
          </a:xfrm>
          <a:prstGeom prst="line">
            <a:avLst/>
          </a:prstGeom>
          <a:noFill/>
          <a:ln w="12700">
            <a:solidFill>
              <a:srgbClr val="E8E8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2688" y="2450592"/>
            <a:ext cx="384048" cy="384048"/>
          </a:xfrm>
          <a:prstGeom prst="roundRect">
            <a:avLst>
              <a:gd name="adj" fmla="val 28571"/>
            </a:avLst>
          </a:prstGeom>
          <a:solidFill>
            <a:srgbClr val="214D3A"/>
          </a:solidFill>
          <a:ln w="12700">
            <a:solidFill>
              <a:srgbClr val="214D3A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41832" y="24551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E77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✦</a:t>
            </a:r>
            <a:endParaRPr lang="en-US" sz="1344" dirty="0"/>
          </a:p>
        </p:txBody>
      </p:sp>
      <p:sp>
        <p:nvSpPr>
          <p:cNvPr id="12" name="Text 10"/>
          <p:cNvSpPr txBox="1"/>
          <p:nvPr/>
        </p:nvSpPr>
        <p:spPr>
          <a:xfrm>
            <a:off x="1435608" y="2478024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39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FoodieFinder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50976" y="3026664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30" kern="0" dirty="0">
                <a:solidFill>
                  <a:srgbClr val="E77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PERSONAL FOOD GUIDE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941832" y="3328416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739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Craving something great?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950976" y="3840480"/>
            <a:ext cx="534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F79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Tell FoodieFinder what you are in the mood for.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41832" y="4288536"/>
            <a:ext cx="1600200" cy="274320"/>
          </a:xfrm>
          <a:prstGeom prst="roundRect">
            <a:avLst>
              <a:gd name="adj" fmla="val 40000"/>
            </a:avLst>
          </a:prstGeom>
          <a:solidFill>
            <a:srgbClr val="EAF0E9"/>
          </a:solidFill>
          <a:ln w="12700">
            <a:solidFill>
              <a:srgbClr val="EAF0E9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14984" y="4297680"/>
            <a:ext cx="1453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35" kern="0" dirty="0">
                <a:solidFill>
                  <a:srgbClr val="1739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cuisine you’ll love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670048" y="4288536"/>
            <a:ext cx="1234440" cy="274320"/>
          </a:xfrm>
          <a:prstGeom prst="roundRect">
            <a:avLst>
              <a:gd name="adj" fmla="val 40000"/>
            </a:avLst>
          </a:prstGeom>
          <a:solidFill>
            <a:srgbClr val="FFF0E6"/>
          </a:solidFill>
          <a:ln w="12700">
            <a:solidFill>
              <a:srgbClr val="FFF0E6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743200" y="4297680"/>
            <a:ext cx="1088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35" kern="0" dirty="0">
                <a:solidFill>
                  <a:srgbClr val="1739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Pick a budget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023360" y="4288536"/>
            <a:ext cx="1737360" cy="274320"/>
          </a:xfrm>
          <a:prstGeom prst="roundRect">
            <a:avLst>
              <a:gd name="adj" fmla="val 40000"/>
            </a:avLst>
          </a:prstGeom>
          <a:solidFill>
            <a:srgbClr val="EAF0E9"/>
          </a:solidFill>
          <a:ln w="12700">
            <a:solidFill>
              <a:srgbClr val="EAF0E9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096512" y="4297680"/>
            <a:ext cx="1591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35" kern="0" dirty="0">
                <a:solidFill>
                  <a:srgbClr val="1739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 nearby places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336792" y="2450592"/>
            <a:ext cx="1426464" cy="2999232"/>
          </a:xfrm>
          <a:prstGeom prst="roundRect">
            <a:avLst>
              <a:gd name="adj" fmla="val 10256"/>
            </a:avLst>
          </a:prstGeom>
          <a:solidFill>
            <a:srgbClr val="FBFCF9"/>
          </a:solidFill>
          <a:ln w="12700">
            <a:solidFill>
              <a:srgbClr val="E8E8D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83096" y="2596896"/>
            <a:ext cx="292608" cy="292608"/>
          </a:xfrm>
          <a:prstGeom prst="ellipse">
            <a:avLst/>
          </a:prstGeom>
          <a:solidFill>
            <a:srgbClr val="214D3A"/>
          </a:solidFill>
          <a:ln w="12700">
            <a:solidFill>
              <a:srgbClr val="214D3A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83096" y="2606040"/>
            <a:ext cx="29260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🍽️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848856" y="262432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39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Assistant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6848856" y="2816352"/>
            <a:ext cx="640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214D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READY</a:t>
            </a:r>
            <a:endParaRPr lang="en-US" sz="730" dirty="0"/>
          </a:p>
        </p:txBody>
      </p:sp>
      <p:sp>
        <p:nvSpPr>
          <p:cNvPr id="27" name="Shape 25"/>
          <p:cNvSpPr/>
          <p:nvPr/>
        </p:nvSpPr>
        <p:spPr>
          <a:xfrm>
            <a:off x="6483096" y="3063240"/>
            <a:ext cx="1133856" cy="896112"/>
          </a:xfrm>
          <a:prstGeom prst="roundRect">
            <a:avLst>
              <a:gd name="adj" fmla="val 12245"/>
            </a:avLst>
          </a:prstGeom>
          <a:solidFill>
            <a:srgbClr val="F1F4EE"/>
          </a:solidFill>
          <a:ln w="12700">
            <a:solidFill>
              <a:srgbClr val="F1F4EE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65392" y="3163824"/>
            <a:ext cx="96926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202B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Tell me your area, budget and favourite food.</a:t>
            </a:r>
            <a:endParaRPr lang="en-US" sz="870" dirty="0"/>
          </a:p>
        </p:txBody>
      </p:sp>
      <p:sp>
        <p:nvSpPr>
          <p:cNvPr id="29" name="Shape 27"/>
          <p:cNvSpPr/>
          <p:nvPr/>
        </p:nvSpPr>
        <p:spPr>
          <a:xfrm>
            <a:off x="6464808" y="4096512"/>
            <a:ext cx="1170432" cy="274320"/>
          </a:xfrm>
          <a:prstGeom prst="roundRect">
            <a:avLst>
              <a:gd name="adj" fmla="val 40000"/>
            </a:avLst>
          </a:prstGeom>
          <a:solidFill>
            <a:srgbClr val="FFF0E6"/>
          </a:solidFill>
          <a:ln w="12700">
            <a:solidFill>
              <a:srgbClr val="FFF0E6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537960" y="4105656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35" kern="0" dirty="0">
                <a:solidFill>
                  <a:srgbClr val="1739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Dinner under ₹500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464808" y="4480560"/>
            <a:ext cx="1170432" cy="274320"/>
          </a:xfrm>
          <a:prstGeom prst="roundRect">
            <a:avLst>
              <a:gd name="adj" fmla="val 40000"/>
            </a:avLst>
          </a:prstGeom>
          <a:solidFill>
            <a:srgbClr val="EAF0E9"/>
          </a:solidFill>
          <a:ln w="12700">
            <a:solidFill>
              <a:srgbClr val="EAF0E9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537960" y="4489704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35" kern="0" dirty="0">
                <a:solidFill>
                  <a:srgbClr val="1739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Veg near Mulund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473952" y="4956048"/>
            <a:ext cx="1188720" cy="310896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 w="12700">
            <a:solidFill>
              <a:srgbClr val="E8E8D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547104" y="501091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F79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FoodieFinder…</a:t>
            </a:r>
            <a:endParaRPr lang="en-US" sz="750" dirty="0"/>
          </a:p>
        </p:txBody>
      </p:sp>
      <p:sp>
        <p:nvSpPr>
          <p:cNvPr id="35" name="Text 33"/>
          <p:cNvSpPr txBox="1"/>
          <p:nvPr/>
        </p:nvSpPr>
        <p:spPr>
          <a:xfrm>
            <a:off x="8394192" y="179222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E77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UI DETAILS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394192" y="2258568"/>
            <a:ext cx="109728" cy="109728"/>
          </a:xfrm>
          <a:prstGeom prst="ellipse">
            <a:avLst/>
          </a:prstGeom>
          <a:solidFill>
            <a:srgbClr val="E77B45"/>
          </a:solidFill>
          <a:ln w="12700">
            <a:solidFill>
              <a:srgbClr val="E77B45">
                <a:alpha val="0"/>
              </a:srgbClr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604504" y="2185416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02B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Suggestion chips make the first message effortless.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394192" y="3090672"/>
            <a:ext cx="109728" cy="109728"/>
          </a:xfrm>
          <a:prstGeom prst="ellipse">
            <a:avLst/>
          </a:prstGeom>
          <a:solidFill>
            <a:srgbClr val="E77B45"/>
          </a:solidFill>
          <a:ln w="12700">
            <a:solidFill>
              <a:srgbClr val="E77B45">
                <a:alpha val="0"/>
              </a:srgbClr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604504" y="3017520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02B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Message bubbles distinguish user and assistant.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394192" y="3922776"/>
            <a:ext cx="109728" cy="109728"/>
          </a:xfrm>
          <a:prstGeom prst="ellipse">
            <a:avLst/>
          </a:prstGeom>
          <a:solidFill>
            <a:srgbClr val="E77B45"/>
          </a:solidFill>
          <a:ln w="12700">
            <a:solidFill>
              <a:srgbClr val="E77B45">
                <a:alpha val="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604504" y="3849624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02B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 sends; Shift + Enter inserts a new line.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394192" y="4754880"/>
            <a:ext cx="109728" cy="109728"/>
          </a:xfrm>
          <a:prstGeom prst="ellipse">
            <a:avLst/>
          </a:prstGeom>
          <a:solidFill>
            <a:srgbClr val="E77B45"/>
          </a:solidFill>
          <a:ln w="12700">
            <a:solidFill>
              <a:srgbClr val="E77B45">
                <a:alpha val="0"/>
              </a:srgbClr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604504" y="4681728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02B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“Start new chat” resets the conversation UI.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621792" y="6199632"/>
            <a:ext cx="10789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F79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reconstruction based on the live page; it is not a captured screenshot.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214D3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3504" y="310896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E77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 •  USER JOURNEY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03504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39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craving to a useful shortlist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1161288"/>
            <a:ext cx="10927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F79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interface invites people to express the important details in a single message.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21792" y="1783080"/>
            <a:ext cx="6601968" cy="4133088"/>
          </a:xfrm>
          <a:prstGeom prst="roundRect">
            <a:avLst>
              <a:gd name="adj" fmla="val 3982"/>
            </a:avLst>
          </a:prstGeom>
          <a:solidFill>
            <a:srgbClr val="FFFFFF"/>
          </a:solidFill>
          <a:ln w="12700">
            <a:solidFill>
              <a:srgbClr val="E8E8D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6112" y="20116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E77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CONVERSATION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993392" y="2450592"/>
            <a:ext cx="4709160" cy="758952"/>
          </a:xfrm>
          <a:prstGeom prst="roundRect">
            <a:avLst>
              <a:gd name="adj" fmla="val 19277"/>
            </a:avLst>
          </a:prstGeom>
          <a:solidFill>
            <a:srgbClr val="17392A"/>
          </a:solidFill>
          <a:ln w="12700">
            <a:solidFill>
              <a:srgbClr val="17392A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21992" y="2615184"/>
            <a:ext cx="4242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“Find a vegetarian place near Mulund for dinner under ₹500.”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77256" y="3264408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spc="80" kern="0" dirty="0">
                <a:solidFill>
                  <a:srgbClr val="6F79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MESSAGE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914400" y="3584448"/>
            <a:ext cx="5989320" cy="649224"/>
          </a:xfrm>
          <a:prstGeom prst="roundRect">
            <a:avLst>
              <a:gd name="adj" fmla="val 19718"/>
            </a:avLst>
          </a:prstGeom>
          <a:solidFill>
            <a:srgbClr val="FFF0E6"/>
          </a:solidFill>
          <a:ln w="12700">
            <a:solidFill>
              <a:srgbClr val="FFF0E6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43000" y="3749040"/>
            <a:ext cx="5513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9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connected workflow interprets the request and prepares a reply.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32688" y="4544568"/>
            <a:ext cx="5806440" cy="886968"/>
          </a:xfrm>
          <a:prstGeom prst="roundRect">
            <a:avLst>
              <a:gd name="adj" fmla="val 16495"/>
            </a:avLst>
          </a:prstGeom>
          <a:solidFill>
            <a:srgbClr val="F1F4EE"/>
          </a:solidFill>
          <a:ln w="12700">
            <a:solidFill>
              <a:srgbClr val="F1F4EE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43000" y="4736592"/>
            <a:ext cx="320040" cy="320040"/>
          </a:xfrm>
          <a:prstGeom prst="ellipse">
            <a:avLst/>
          </a:prstGeom>
          <a:solidFill>
            <a:srgbClr val="214D3A"/>
          </a:solidFill>
          <a:ln w="12700">
            <a:solidFill>
              <a:srgbClr val="214D3A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43000" y="4736592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🍽️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4681728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39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FoodieFinder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600200" y="4956048"/>
            <a:ext cx="4736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02B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“I’ll look for vegetarian-friendly options nearby within that budget.”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41832" y="5596128"/>
            <a:ext cx="5852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F79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response pattern — actual recommendations depend on the connected workflow and its data.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7607808" y="188366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30" kern="0" dirty="0">
                <a:solidFill>
                  <a:srgbClr val="E77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 SIGNALS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607808" y="2286000"/>
            <a:ext cx="3886200" cy="566928"/>
          </a:xfrm>
          <a:prstGeom prst="roundRect">
            <a:avLst>
              <a:gd name="adj" fmla="val 20968"/>
            </a:avLst>
          </a:prstGeom>
          <a:solidFill>
            <a:srgbClr val="FFFFFF"/>
          </a:solidFill>
          <a:ln w="12700">
            <a:solidFill>
              <a:srgbClr val="E8E8D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836408" y="2377440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spc="90" kern="0" dirty="0">
                <a:solidFill>
                  <a:srgbClr val="6F79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CUISINE</a:t>
            </a:r>
            <a:endParaRPr lang="en-US" sz="780" dirty="0"/>
          </a:p>
        </p:txBody>
      </p:sp>
      <p:sp>
        <p:nvSpPr>
          <p:cNvPr id="21" name="Text 19"/>
          <p:cNvSpPr txBox="1"/>
          <p:nvPr/>
        </p:nvSpPr>
        <p:spPr>
          <a:xfrm>
            <a:off x="7836408" y="2551176"/>
            <a:ext cx="29718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39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Vegetarian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607808" y="3054096"/>
            <a:ext cx="3886200" cy="566928"/>
          </a:xfrm>
          <a:prstGeom prst="roundRect">
            <a:avLst>
              <a:gd name="adj" fmla="val 20968"/>
            </a:avLst>
          </a:prstGeom>
          <a:solidFill>
            <a:srgbClr val="EAF0E9"/>
          </a:solidFill>
          <a:ln w="12700">
            <a:solidFill>
              <a:srgbClr val="EAF0E9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836408" y="3145536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spc="90" kern="0" dirty="0">
                <a:solidFill>
                  <a:srgbClr val="6F79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</a:t>
            </a:r>
            <a:endParaRPr lang="en-US" sz="780" dirty="0"/>
          </a:p>
        </p:txBody>
      </p:sp>
      <p:sp>
        <p:nvSpPr>
          <p:cNvPr id="24" name="Text 22"/>
          <p:cNvSpPr txBox="1"/>
          <p:nvPr/>
        </p:nvSpPr>
        <p:spPr>
          <a:xfrm>
            <a:off x="7836408" y="3319272"/>
            <a:ext cx="29718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39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Mulund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607808" y="3822192"/>
            <a:ext cx="3886200" cy="566928"/>
          </a:xfrm>
          <a:prstGeom prst="roundRect">
            <a:avLst>
              <a:gd name="adj" fmla="val 20968"/>
            </a:avLst>
          </a:prstGeom>
          <a:solidFill>
            <a:srgbClr val="FFFFFF"/>
          </a:solidFill>
          <a:ln w="12700">
            <a:solidFill>
              <a:srgbClr val="E8E8D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836408" y="3913632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spc="90" kern="0" dirty="0">
                <a:solidFill>
                  <a:srgbClr val="6F79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BUDGET</a:t>
            </a:r>
            <a:endParaRPr lang="en-US" sz="780" dirty="0"/>
          </a:p>
        </p:txBody>
      </p:sp>
      <p:sp>
        <p:nvSpPr>
          <p:cNvPr id="27" name="Text 25"/>
          <p:cNvSpPr txBox="1"/>
          <p:nvPr/>
        </p:nvSpPr>
        <p:spPr>
          <a:xfrm>
            <a:off x="7836408" y="4087368"/>
            <a:ext cx="29718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39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 ₹500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607808" y="4590288"/>
            <a:ext cx="3886200" cy="566928"/>
          </a:xfrm>
          <a:prstGeom prst="roundRect">
            <a:avLst>
              <a:gd name="adj" fmla="val 20968"/>
            </a:avLst>
          </a:prstGeom>
          <a:solidFill>
            <a:srgbClr val="EAF0E9"/>
          </a:solidFill>
          <a:ln w="12700">
            <a:solidFill>
              <a:srgbClr val="EAF0E9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836408" y="468172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spc="90" kern="0" dirty="0">
                <a:solidFill>
                  <a:srgbClr val="6F79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OCCASION</a:t>
            </a:r>
            <a:endParaRPr lang="en-US" sz="780" dirty="0"/>
          </a:p>
        </p:txBody>
      </p:sp>
      <p:sp>
        <p:nvSpPr>
          <p:cNvPr id="30" name="Text 28"/>
          <p:cNvSpPr txBox="1"/>
          <p:nvPr/>
        </p:nvSpPr>
        <p:spPr>
          <a:xfrm>
            <a:off x="7836408" y="4855464"/>
            <a:ext cx="29718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39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Dinner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607808" y="5468112"/>
            <a:ext cx="3886200" cy="457200"/>
          </a:xfrm>
          <a:prstGeom prst="roundRect">
            <a:avLst>
              <a:gd name="adj" fmla="val 28000"/>
            </a:avLst>
          </a:prstGeom>
          <a:solidFill>
            <a:srgbClr val="17392A"/>
          </a:solidFill>
          <a:ln w="12700">
            <a:solidFill>
              <a:srgbClr val="17392A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772400" y="557784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message → multiple preferences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214D3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3504" y="310896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E77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 •  SYSTEM ARCHITECTURE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03504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39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lightweight frontend connected to a workflow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1161288"/>
            <a:ext cx="10927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F79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browser interface sends a request to the n8n webhook and displays the returned chatbot response.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2148840"/>
            <a:ext cx="2240280" cy="1316736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8E8D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2148840"/>
            <a:ext cx="73152" cy="1316736"/>
          </a:xfrm>
          <a:prstGeom prst="roundRect">
            <a:avLst>
              <a:gd name="adj" fmla="val 50000"/>
            </a:avLst>
          </a:prstGeom>
          <a:solidFill>
            <a:srgbClr val="E77B45"/>
          </a:solidFill>
          <a:ln w="12700">
            <a:solidFill>
              <a:srgbClr val="E77B45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2295144"/>
            <a:ext cx="1892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39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User / Browser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606040"/>
            <a:ext cx="18928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F79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Types a food request and views the reply.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37560" y="2148840"/>
            <a:ext cx="2331720" cy="1316736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8E8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2148840"/>
            <a:ext cx="73152" cy="1316736"/>
          </a:xfrm>
          <a:prstGeom prst="roundRect">
            <a:avLst>
              <a:gd name="adj" fmla="val 50000"/>
            </a:avLst>
          </a:prstGeom>
          <a:solidFill>
            <a:srgbClr val="214D3A"/>
          </a:solidFill>
          <a:ln w="12700">
            <a:solidFill>
              <a:srgbClr val="214D3A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47872" y="2295144"/>
            <a:ext cx="1984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39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 GitHub Pages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547872" y="2606040"/>
            <a:ext cx="19842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F79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Static HTML, CSS and JavaScript interface.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44768" y="2148840"/>
            <a:ext cx="2331720" cy="1316736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8E8D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44768" y="2148840"/>
            <a:ext cx="73152" cy="1316736"/>
          </a:xfrm>
          <a:prstGeom prst="roundRect">
            <a:avLst>
              <a:gd name="adj" fmla="val 50000"/>
            </a:avLst>
          </a:prstGeom>
          <a:solidFill>
            <a:srgbClr val="E77B45"/>
          </a:solidFill>
          <a:ln w="12700">
            <a:solidFill>
              <a:srgbClr val="E77B45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55080" y="2295144"/>
            <a:ext cx="1984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39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 n8n Webhook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2606040"/>
            <a:ext cx="19842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F79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Receives the POST request and passes it into the workflow.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961120" y="2148840"/>
            <a:ext cx="2468880" cy="1316736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8E8D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961120" y="2148840"/>
            <a:ext cx="73152" cy="1316736"/>
          </a:xfrm>
          <a:prstGeom prst="roundRect">
            <a:avLst>
              <a:gd name="adj" fmla="val 50000"/>
            </a:avLst>
          </a:prstGeom>
          <a:solidFill>
            <a:srgbClr val="214D3A"/>
          </a:solidFill>
          <a:ln w="12700">
            <a:solidFill>
              <a:srgbClr val="214D3A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71432" y="2295144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39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 Chatbot Workflow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9171432" y="2606040"/>
            <a:ext cx="21214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F79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Processes the message and returns a reply.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907792" y="2807208"/>
            <a:ext cx="384048" cy="0"/>
          </a:xfrm>
          <a:prstGeom prst="line">
            <a:avLst/>
          </a:prstGeom>
          <a:noFill/>
          <a:ln w="22860">
            <a:solidFill>
              <a:srgbClr val="E77B45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687568" y="2807208"/>
            <a:ext cx="411480" cy="0"/>
          </a:xfrm>
          <a:prstGeom prst="line">
            <a:avLst/>
          </a:prstGeom>
          <a:noFill/>
          <a:ln w="22860">
            <a:solidFill>
              <a:srgbClr val="E77B45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494776" y="2807208"/>
            <a:ext cx="420624" cy="0"/>
          </a:xfrm>
          <a:prstGeom prst="line">
            <a:avLst/>
          </a:prstGeom>
          <a:noFill/>
          <a:ln w="22860">
            <a:solidFill>
              <a:srgbClr val="E77B45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0177272" y="3675888"/>
            <a:ext cx="0" cy="621792"/>
          </a:xfrm>
          <a:prstGeom prst="line">
            <a:avLst/>
          </a:prstGeom>
          <a:noFill/>
          <a:ln w="16510">
            <a:solidFill>
              <a:srgbClr val="214D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177272" y="4297680"/>
            <a:ext cx="-5650992" cy="0"/>
          </a:xfrm>
          <a:prstGeom prst="line">
            <a:avLst/>
          </a:prstGeom>
          <a:noFill/>
          <a:ln w="16510">
            <a:solidFill>
              <a:srgbClr val="214D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26280" y="4297680"/>
            <a:ext cx="0" cy="-621792"/>
          </a:xfrm>
          <a:prstGeom prst="line">
            <a:avLst/>
          </a:prstGeom>
          <a:noFill/>
          <a:ln w="16510">
            <a:solidFill>
              <a:srgbClr val="214D3A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6501384" y="4142232"/>
            <a:ext cx="2907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4D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returns to the page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58368" y="4727448"/>
            <a:ext cx="3429000" cy="987552"/>
          </a:xfrm>
          <a:prstGeom prst="roundRect">
            <a:avLst>
              <a:gd name="adj" fmla="val 14815"/>
            </a:avLst>
          </a:prstGeom>
          <a:solidFill>
            <a:srgbClr val="EAF0E9"/>
          </a:solidFill>
          <a:ln w="12700">
            <a:solidFill>
              <a:srgbClr val="EAF0E9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96112" y="4937760"/>
            <a:ext cx="1051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214D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896112" y="519379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739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Renders safe text bubbles, typing state and controls.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389120" y="4727448"/>
            <a:ext cx="3429000" cy="987552"/>
          </a:xfrm>
          <a:prstGeom prst="roundRect">
            <a:avLst>
              <a:gd name="adj" fmla="val 14815"/>
            </a:avLst>
          </a:prstGeom>
          <a:solidFill>
            <a:srgbClr val="FFF0E6"/>
          </a:solidFill>
          <a:ln w="12700">
            <a:solidFill>
              <a:srgbClr val="FFF0E6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626864" y="4937760"/>
            <a:ext cx="1051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E77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4626864" y="519379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739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JSON includes message, session ID, recent history and source.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110728" y="4727448"/>
            <a:ext cx="3319272" cy="987552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E8E8D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348472" y="4937760"/>
            <a:ext cx="1051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E77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8348472" y="5193792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739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 accepts JSON or plain text and extracts a reply field.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621792" y="6199632"/>
            <a:ext cx="10789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F79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Based on the public index.html source. Workflow internals and the configured model are not visible in the static site repository.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214D3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3504" y="310896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E77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 •  WEBHOOK INTEGRATION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03504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39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message exchange behind the chat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1161288"/>
            <a:ext cx="10927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F79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client-side code sends conversation context to the configured n8n endpoint using an HTTP POST request.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21792" y="1764792"/>
            <a:ext cx="5376672" cy="4224528"/>
          </a:xfrm>
          <a:prstGeom prst="roundRect">
            <a:avLst>
              <a:gd name="adj" fmla="val 3896"/>
            </a:avLst>
          </a:prstGeom>
          <a:solidFill>
            <a:srgbClr val="17392A"/>
          </a:solidFill>
          <a:ln w="12700">
            <a:solidFill>
              <a:srgbClr val="17392A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23544" y="2011680"/>
            <a:ext cx="1965960" cy="274320"/>
          </a:xfrm>
          <a:prstGeom prst="roundRect">
            <a:avLst>
              <a:gd name="adj" fmla="val 40000"/>
            </a:avLst>
          </a:prstGeom>
          <a:solidFill>
            <a:srgbClr val="315A45"/>
          </a:solidFill>
          <a:ln w="12700">
            <a:solidFill>
              <a:srgbClr val="315A45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96696" y="2020824"/>
            <a:ext cx="1819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35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  •  POST JSON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923544" y="246888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request payload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23544" y="2852928"/>
            <a:ext cx="4709160" cy="2377440"/>
          </a:xfrm>
          <a:prstGeom prst="roundRect">
            <a:avLst>
              <a:gd name="adj" fmla="val 4615"/>
            </a:avLst>
          </a:prstGeom>
          <a:solidFill>
            <a:srgbClr val="102C21"/>
          </a:solidFill>
          <a:ln w="12700">
            <a:solidFill>
              <a:srgbClr val="315A4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06424" y="3008376"/>
            <a:ext cx="437083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E7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E7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"message": "Dinner under ₹500",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E7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"sessionId": "&lt;session-id&gt;",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E7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"history": [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E7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"role": "user", "content": "..." },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E7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"role": "assistant", "content": "..." }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E7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],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E7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"source": "foodiefinder-website"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E7F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932688" y="5440680"/>
            <a:ext cx="4608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C5D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History is limited to the most recent 12 messages.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91072" y="1764792"/>
            <a:ext cx="5276088" cy="4224528"/>
          </a:xfrm>
          <a:prstGeom prst="roundRect">
            <a:avLst>
              <a:gd name="adj" fmla="val 3896"/>
            </a:avLst>
          </a:prstGeom>
          <a:solidFill>
            <a:srgbClr val="FFFFFF"/>
          </a:solidFill>
          <a:ln w="12700">
            <a:solidFill>
              <a:srgbClr val="E8E8D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01968" y="2011680"/>
            <a:ext cx="2423160" cy="274320"/>
          </a:xfrm>
          <a:prstGeom prst="roundRect">
            <a:avLst>
              <a:gd name="adj" fmla="val 40000"/>
            </a:avLst>
          </a:prstGeom>
          <a:solidFill>
            <a:srgbClr val="FFF0E6"/>
          </a:solidFill>
          <a:ln w="12700">
            <a:solidFill>
              <a:srgbClr val="FFF0E6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75120" y="2020824"/>
            <a:ext cx="2276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35" kern="0" dirty="0">
                <a:solidFill>
                  <a:srgbClr val="1739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 •  JSON OR TEXT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6601968" y="246888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39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reply shape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601968" y="2852928"/>
            <a:ext cx="4526280" cy="859536"/>
          </a:xfrm>
          <a:prstGeom prst="roundRect">
            <a:avLst>
              <a:gd name="adj" fmla="val 12766"/>
            </a:avLst>
          </a:prstGeom>
          <a:solidFill>
            <a:srgbClr val="F1F4EE"/>
          </a:solidFill>
          <a:ln w="12700">
            <a:solidFill>
              <a:srgbClr val="F1F4EE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93992" y="3063240"/>
            <a:ext cx="4133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1739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"reply": "Here are a few places to try…" }</a:t>
            </a:r>
            <a:endParaRPr lang="en-US" sz="1070" dirty="0"/>
          </a:p>
        </p:txBody>
      </p:sp>
      <p:sp>
        <p:nvSpPr>
          <p:cNvPr id="18" name="Text 16"/>
          <p:cNvSpPr txBox="1"/>
          <p:nvPr/>
        </p:nvSpPr>
        <p:spPr>
          <a:xfrm>
            <a:off x="6601968" y="400507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39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safeguards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638544" y="4443984"/>
            <a:ext cx="109728" cy="109728"/>
          </a:xfrm>
          <a:prstGeom prst="ellipse">
            <a:avLst/>
          </a:prstGeom>
          <a:solidFill>
            <a:srgbClr val="E77B45"/>
          </a:solidFill>
          <a:ln w="12700">
            <a:solidFill>
              <a:srgbClr val="E77B45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48856" y="4370832"/>
            <a:ext cx="4087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02B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Checks HTTP response status and shows a friendly error.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638544" y="4946904"/>
            <a:ext cx="109728" cy="109728"/>
          </a:xfrm>
          <a:prstGeom prst="ellipse">
            <a:avLst/>
          </a:prstGeom>
          <a:solidFill>
            <a:srgbClr val="E77B45"/>
          </a:solidFill>
          <a:ln w="12700">
            <a:solidFill>
              <a:srgbClr val="E77B45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48856" y="4873752"/>
            <a:ext cx="4087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02B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Accepts common response keys such as reply, output, answer or text.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638544" y="5513832"/>
            <a:ext cx="109728" cy="109728"/>
          </a:xfrm>
          <a:prstGeom prst="ellipse">
            <a:avLst/>
          </a:prstGeom>
          <a:solidFill>
            <a:srgbClr val="E77B45"/>
          </a:solidFill>
          <a:ln w="12700">
            <a:solidFill>
              <a:srgbClr val="E77B45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48856" y="5440680"/>
            <a:ext cx="4087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02B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textContent to avoid treating replies as HTML.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21792" y="6199632"/>
            <a:ext cx="10789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F79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live page currently points to an n8n Cloud webhook; verify workflow uptime and CORS settings for reliable use.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214D3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3504" y="310896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E77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 •  IMPLEMENTATION HIGHLIGHTS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03504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39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Small client-side details improve reliability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1161288"/>
            <a:ext cx="10927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F79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public source shows how the page manages the conversation around the workflow call.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2029968"/>
            <a:ext cx="2587752" cy="1938528"/>
          </a:xfrm>
          <a:prstGeom prst="roundRect">
            <a:avLst>
              <a:gd name="adj" fmla="val 8019"/>
            </a:avLst>
          </a:prstGeom>
          <a:solidFill>
            <a:srgbClr val="FFFFFF"/>
          </a:solidFill>
          <a:ln w="12700">
            <a:solidFill>
              <a:srgbClr val="E8E8D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" y="2258568"/>
            <a:ext cx="475488" cy="475488"/>
          </a:xfrm>
          <a:prstGeom prst="ellipse">
            <a:avLst/>
          </a:prstGeom>
          <a:solidFill>
            <a:srgbClr val="EAF0E9"/>
          </a:solidFill>
          <a:ln w="12700">
            <a:solidFill>
              <a:srgbClr val="EAF0E9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77824" y="2258568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9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77824" y="289864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39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77824" y="3264408"/>
            <a:ext cx="2148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6F79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the input, support Enter-to-send and allow Shift + Enter for a new line.</a:t>
            </a:r>
            <a:endParaRPr lang="en-US" sz="1060" dirty="0"/>
          </a:p>
        </p:txBody>
      </p:sp>
      <p:sp>
        <p:nvSpPr>
          <p:cNvPr id="10" name="Shape 8"/>
          <p:cNvSpPr/>
          <p:nvPr/>
        </p:nvSpPr>
        <p:spPr>
          <a:xfrm>
            <a:off x="3291840" y="2944368"/>
            <a:ext cx="182880" cy="0"/>
          </a:xfrm>
          <a:prstGeom prst="line">
            <a:avLst/>
          </a:prstGeom>
          <a:noFill/>
          <a:ln w="17780">
            <a:solidFill>
              <a:srgbClr val="E77B45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547872" y="2029968"/>
            <a:ext cx="2587752" cy="1938528"/>
          </a:xfrm>
          <a:prstGeom prst="roundRect">
            <a:avLst>
              <a:gd name="adj" fmla="val 8019"/>
            </a:avLst>
          </a:prstGeom>
          <a:solidFill>
            <a:srgbClr val="FFFFFF"/>
          </a:solidFill>
          <a:ln w="12700">
            <a:solidFill>
              <a:srgbClr val="E8E8D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67328" y="2258568"/>
            <a:ext cx="475488" cy="475488"/>
          </a:xfrm>
          <a:prstGeom prst="ellipse">
            <a:avLst/>
          </a:prstGeom>
          <a:solidFill>
            <a:srgbClr val="FFF0E6"/>
          </a:solidFill>
          <a:ln w="12700">
            <a:solidFill>
              <a:srgbClr val="FFF0E6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767328" y="2258568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9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767328" y="289864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39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3767328" y="3264408"/>
            <a:ext cx="2148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6F79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session ID and include recent conversation history in the payload.</a:t>
            </a:r>
            <a:endParaRPr lang="en-US" sz="1060" dirty="0"/>
          </a:p>
        </p:txBody>
      </p:sp>
      <p:sp>
        <p:nvSpPr>
          <p:cNvPr id="16" name="Shape 14"/>
          <p:cNvSpPr/>
          <p:nvPr/>
        </p:nvSpPr>
        <p:spPr>
          <a:xfrm>
            <a:off x="6181344" y="2944368"/>
            <a:ext cx="182880" cy="0"/>
          </a:xfrm>
          <a:prstGeom prst="line">
            <a:avLst/>
          </a:prstGeom>
          <a:noFill/>
          <a:ln w="17780">
            <a:solidFill>
              <a:srgbClr val="E77B4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437376" y="2029968"/>
            <a:ext cx="2587752" cy="1938528"/>
          </a:xfrm>
          <a:prstGeom prst="roundRect">
            <a:avLst>
              <a:gd name="adj" fmla="val 8019"/>
            </a:avLst>
          </a:prstGeom>
          <a:solidFill>
            <a:srgbClr val="FFFFFF"/>
          </a:solidFill>
          <a:ln w="12700">
            <a:solidFill>
              <a:srgbClr val="E8E8D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56832" y="2258568"/>
            <a:ext cx="475488" cy="475488"/>
          </a:xfrm>
          <a:prstGeom prst="ellipse">
            <a:avLst/>
          </a:prstGeom>
          <a:solidFill>
            <a:srgbClr val="EAF0E9"/>
          </a:solidFill>
          <a:ln w="12700">
            <a:solidFill>
              <a:srgbClr val="EAF0E9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56832" y="2258568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9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656832" y="289864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39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656832" y="3264408"/>
            <a:ext cx="2148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6F79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Send JSON with fetch() and handle HTTP / connection failures.</a:t>
            </a:r>
            <a:endParaRPr lang="en-US" sz="1060" dirty="0"/>
          </a:p>
        </p:txBody>
      </p:sp>
      <p:sp>
        <p:nvSpPr>
          <p:cNvPr id="22" name="Shape 20"/>
          <p:cNvSpPr/>
          <p:nvPr/>
        </p:nvSpPr>
        <p:spPr>
          <a:xfrm>
            <a:off x="9070848" y="2944368"/>
            <a:ext cx="182880" cy="0"/>
          </a:xfrm>
          <a:prstGeom prst="line">
            <a:avLst/>
          </a:prstGeom>
          <a:noFill/>
          <a:ln w="17780">
            <a:solidFill>
              <a:srgbClr val="E77B45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326880" y="2029968"/>
            <a:ext cx="2587752" cy="1938528"/>
          </a:xfrm>
          <a:prstGeom prst="roundRect">
            <a:avLst>
              <a:gd name="adj" fmla="val 8019"/>
            </a:avLst>
          </a:prstGeom>
          <a:solidFill>
            <a:srgbClr val="FFFFFF"/>
          </a:solidFill>
          <a:ln w="12700">
            <a:solidFill>
              <a:srgbClr val="E8E8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546336" y="2258568"/>
            <a:ext cx="475488" cy="475488"/>
          </a:xfrm>
          <a:prstGeom prst="ellipse">
            <a:avLst/>
          </a:prstGeom>
          <a:solidFill>
            <a:srgbClr val="FFF0E6"/>
          </a:solidFill>
          <a:ln w="12700">
            <a:solidFill>
              <a:srgbClr val="FFF0E6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546336" y="2258568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9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9546336" y="289864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39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Display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9546336" y="3264408"/>
            <a:ext cx="2148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6F79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typing state, append the reply as text and restore the controls.</a:t>
            </a:r>
            <a:endParaRPr lang="en-US" sz="1060" dirty="0"/>
          </a:p>
        </p:txBody>
      </p:sp>
      <p:sp>
        <p:nvSpPr>
          <p:cNvPr id="28" name="Shape 26"/>
          <p:cNvSpPr/>
          <p:nvPr/>
        </p:nvSpPr>
        <p:spPr>
          <a:xfrm>
            <a:off x="658368" y="4434840"/>
            <a:ext cx="10927080" cy="1143000"/>
          </a:xfrm>
          <a:prstGeom prst="roundRect">
            <a:avLst>
              <a:gd name="adj" fmla="val 13600"/>
            </a:avLst>
          </a:prstGeom>
          <a:solidFill>
            <a:srgbClr val="17392A"/>
          </a:solidFill>
          <a:ln w="12700">
            <a:solidFill>
              <a:srgbClr val="17392A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32688" y="468172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E77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2724912" y="4645152"/>
            <a:ext cx="8183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front end remains lightweight; conversation intelligence is delegated to the connected workflow.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2734056" y="5111496"/>
            <a:ext cx="8183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C5D7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separation makes the interface easier to host as a static site and lets the workflow change independently.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621792" y="6199632"/>
            <a:ext cx="10789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F79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Technologies directly visible in the source: HTML, CSS, JavaScript, fetch(), JSON payloads and an n8n webhook URL.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214D3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3504" y="310896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E77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 •  TESTING PLAN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03504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39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to check the project before a demo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1161288"/>
            <a:ext cx="10927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F79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are recommended functional test cases, not claimed benchmark results.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1773936"/>
            <a:ext cx="10908792" cy="438912"/>
          </a:xfrm>
          <a:prstGeom prst="roundRect">
            <a:avLst>
              <a:gd name="adj" fmla="val 16667"/>
            </a:avLst>
          </a:prstGeom>
          <a:solidFill>
            <a:srgbClr val="17392A"/>
          </a:solidFill>
          <a:ln w="12700">
            <a:solidFill>
              <a:srgbClr val="17392A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9536" y="1865376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INPUT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3648456" y="1865376"/>
            <a:ext cx="3547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TO VERIFY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360920" y="186537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BEHAVIOUR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2276856"/>
            <a:ext cx="10908792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9536" y="239572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70" b="1" dirty="0">
                <a:solidFill>
                  <a:srgbClr val="1739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“Dinner under ₹500”</a:t>
            </a:r>
            <a:endParaRPr lang="en-US" sz="1070" dirty="0"/>
          </a:p>
        </p:txBody>
      </p:sp>
      <p:sp>
        <p:nvSpPr>
          <p:cNvPr id="11" name="Text 9"/>
          <p:cNvSpPr txBox="1"/>
          <p:nvPr/>
        </p:nvSpPr>
        <p:spPr>
          <a:xfrm>
            <a:off x="3648456" y="2395728"/>
            <a:ext cx="3529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202B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Shortcut prompt and webhook request</a:t>
            </a:r>
            <a:endParaRPr lang="en-US" sz="1020" dirty="0"/>
          </a:p>
        </p:txBody>
      </p:sp>
      <p:sp>
        <p:nvSpPr>
          <p:cNvPr id="12" name="Text 10"/>
          <p:cNvSpPr txBox="1"/>
          <p:nvPr/>
        </p:nvSpPr>
        <p:spPr>
          <a:xfrm>
            <a:off x="7360920" y="2395728"/>
            <a:ext cx="4096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202B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Reply is displayed without a UI error.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658368" y="2990088"/>
            <a:ext cx="10908792" cy="640080"/>
          </a:xfrm>
          <a:prstGeom prst="roundRect">
            <a:avLst>
              <a:gd name="adj" fmla="val 12857"/>
            </a:avLst>
          </a:prstGeom>
          <a:solidFill>
            <a:srgbClr val="F1F1E9"/>
          </a:solidFill>
          <a:ln w="12700">
            <a:solidFill>
              <a:srgbClr val="F1F1E9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59536" y="310896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70" b="1" dirty="0">
                <a:solidFill>
                  <a:srgbClr val="1739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“Vegetarian near Mulund”</a:t>
            </a:r>
            <a:endParaRPr lang="en-US" sz="1070" dirty="0"/>
          </a:p>
        </p:txBody>
      </p:sp>
      <p:sp>
        <p:nvSpPr>
          <p:cNvPr id="15" name="Text 13"/>
          <p:cNvSpPr txBox="1"/>
          <p:nvPr/>
        </p:nvSpPr>
        <p:spPr>
          <a:xfrm>
            <a:off x="3648456" y="3108960"/>
            <a:ext cx="3529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202B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 reaches workflow with session context</a:t>
            </a:r>
            <a:endParaRPr lang="en-US" sz="1020" dirty="0"/>
          </a:p>
        </p:txBody>
      </p:sp>
      <p:sp>
        <p:nvSpPr>
          <p:cNvPr id="16" name="Text 14"/>
          <p:cNvSpPr txBox="1"/>
          <p:nvPr/>
        </p:nvSpPr>
        <p:spPr>
          <a:xfrm>
            <a:off x="7360920" y="3108960"/>
            <a:ext cx="4096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202B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 responds with relevant suggestions if its data supports them.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658368" y="3703320"/>
            <a:ext cx="10908792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59536" y="382219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70" b="1" dirty="0">
                <a:solidFill>
                  <a:srgbClr val="1739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Follow-up message</a:t>
            </a:r>
            <a:endParaRPr lang="en-US" sz="1070" dirty="0"/>
          </a:p>
        </p:txBody>
      </p:sp>
      <p:sp>
        <p:nvSpPr>
          <p:cNvPr id="19" name="Text 17"/>
          <p:cNvSpPr txBox="1"/>
          <p:nvPr/>
        </p:nvSpPr>
        <p:spPr>
          <a:xfrm>
            <a:off x="3648456" y="3822192"/>
            <a:ext cx="3529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202B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Previous messages remain in the request history</a:t>
            </a:r>
            <a:endParaRPr lang="en-US" sz="1020" dirty="0"/>
          </a:p>
        </p:txBody>
      </p:sp>
      <p:sp>
        <p:nvSpPr>
          <p:cNvPr id="20" name="Text 18"/>
          <p:cNvSpPr txBox="1"/>
          <p:nvPr/>
        </p:nvSpPr>
        <p:spPr>
          <a:xfrm>
            <a:off x="7360920" y="3822192"/>
            <a:ext cx="4096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202B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 can use recent context if configured to do so.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658368" y="4416552"/>
            <a:ext cx="10908792" cy="640080"/>
          </a:xfrm>
          <a:prstGeom prst="roundRect">
            <a:avLst>
              <a:gd name="adj" fmla="val 12857"/>
            </a:avLst>
          </a:prstGeom>
          <a:solidFill>
            <a:srgbClr val="F1F1E9"/>
          </a:solidFill>
          <a:ln w="12700">
            <a:solidFill>
              <a:srgbClr val="F1F1E9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59536" y="453542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70" b="1" dirty="0">
                <a:solidFill>
                  <a:srgbClr val="1739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 returns an error</a:t>
            </a:r>
            <a:endParaRPr lang="en-US" sz="1070" dirty="0"/>
          </a:p>
        </p:txBody>
      </p:sp>
      <p:sp>
        <p:nvSpPr>
          <p:cNvPr id="23" name="Text 21"/>
          <p:cNvSpPr txBox="1"/>
          <p:nvPr/>
        </p:nvSpPr>
        <p:spPr>
          <a:xfrm>
            <a:off x="3648456" y="4535424"/>
            <a:ext cx="3529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202B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 / network failure handling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7360920" y="4535424"/>
            <a:ext cx="4096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202B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readable error appears and sending is re-enabled.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658368" y="5129784"/>
            <a:ext cx="10908792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59536" y="524865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70" b="1" dirty="0">
                <a:solidFill>
                  <a:srgbClr val="1739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new chat</a:t>
            </a:r>
            <a:endParaRPr lang="en-US" sz="1070" dirty="0"/>
          </a:p>
        </p:txBody>
      </p:sp>
      <p:sp>
        <p:nvSpPr>
          <p:cNvPr id="27" name="Text 25"/>
          <p:cNvSpPr txBox="1"/>
          <p:nvPr/>
        </p:nvSpPr>
        <p:spPr>
          <a:xfrm>
            <a:off x="3648456" y="5248656"/>
            <a:ext cx="3529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202B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Reset controls and conversation state</a:t>
            </a:r>
            <a:endParaRPr lang="en-US" sz="1020" dirty="0"/>
          </a:p>
        </p:txBody>
      </p:sp>
      <p:sp>
        <p:nvSpPr>
          <p:cNvPr id="28" name="Text 26"/>
          <p:cNvSpPr txBox="1"/>
          <p:nvPr/>
        </p:nvSpPr>
        <p:spPr>
          <a:xfrm>
            <a:off x="7360920" y="5248656"/>
            <a:ext cx="4096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202B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new interaction begins without old UI messages.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658368" y="5596128"/>
            <a:ext cx="10908792" cy="374904"/>
          </a:xfrm>
          <a:prstGeom prst="roundRect">
            <a:avLst>
              <a:gd name="adj" fmla="val 24390"/>
            </a:avLst>
          </a:prstGeom>
          <a:solidFill>
            <a:srgbClr val="FFF0E6"/>
          </a:solidFill>
          <a:ln w="12700">
            <a:solidFill>
              <a:srgbClr val="FFF0E6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68680" y="5669280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39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Also verify webhook URL, workflow activation, CORS, and current data quality before presenting.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214D3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3504" y="310896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E77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 •  EVALUATION &amp; ROADMAP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03504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39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implemented — and what can improve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1161288"/>
            <a:ext cx="10927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F79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live website exposes the chat interface and webhook integration; richer recommendation quality depends on the connected workflow and data.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1837944"/>
            <a:ext cx="5084064" cy="3639312"/>
          </a:xfrm>
          <a:prstGeom prst="roundRect">
            <a:avLst>
              <a:gd name="adj" fmla="val 4523"/>
            </a:avLst>
          </a:prstGeom>
          <a:solidFill>
            <a:srgbClr val="FFFFFF"/>
          </a:solidFill>
          <a:ln w="12700">
            <a:solidFill>
              <a:srgbClr val="E8E8D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103120"/>
            <a:ext cx="3017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E77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CONSIDERATIONS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60120" y="2606040"/>
            <a:ext cx="109728" cy="109728"/>
          </a:xfrm>
          <a:prstGeom prst="ellipse">
            <a:avLst/>
          </a:prstGeom>
          <a:solidFill>
            <a:srgbClr val="E77B45"/>
          </a:solidFill>
          <a:ln w="12700">
            <a:solidFill>
              <a:srgbClr val="E77B45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70432" y="2532888"/>
            <a:ext cx="4197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202B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Detailed workflow internals and the exact AI model are not documented in the public repo.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960120" y="3383280"/>
            <a:ext cx="109728" cy="109728"/>
          </a:xfrm>
          <a:prstGeom prst="ellipse">
            <a:avLst/>
          </a:prstGeom>
          <a:solidFill>
            <a:srgbClr val="E77B45"/>
          </a:solidFill>
          <a:ln w="12700">
            <a:solidFill>
              <a:srgbClr val="E77B45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70432" y="3310128"/>
            <a:ext cx="4197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202B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 quality depends on the workflow’s data and prompt configuration.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960120" y="4160520"/>
            <a:ext cx="109728" cy="109728"/>
          </a:xfrm>
          <a:prstGeom prst="ellipse">
            <a:avLst/>
          </a:prstGeom>
          <a:solidFill>
            <a:srgbClr val="E77B45"/>
          </a:solidFill>
          <a:ln w="12700">
            <a:solidFill>
              <a:srgbClr val="E77B45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70432" y="4087368"/>
            <a:ext cx="41970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202B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Price, hours and availability should be verified before visiting.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960120" y="4864608"/>
            <a:ext cx="109728" cy="109728"/>
          </a:xfrm>
          <a:prstGeom prst="ellipse">
            <a:avLst/>
          </a:prstGeom>
          <a:solidFill>
            <a:srgbClr val="E77B45"/>
          </a:solidFill>
          <a:ln w="12700">
            <a:solidFill>
              <a:srgbClr val="E77B45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70432" y="4791456"/>
            <a:ext cx="419709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202B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page displays a warning that the site may go offline after 15 Nov 2026.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6035040" y="1837944"/>
            <a:ext cx="5532120" cy="3639312"/>
          </a:xfrm>
          <a:prstGeom prst="roundRect">
            <a:avLst>
              <a:gd name="adj" fmla="val 4523"/>
            </a:avLst>
          </a:prstGeom>
          <a:solidFill>
            <a:srgbClr val="17392A"/>
          </a:solidFill>
          <a:ln w="12700">
            <a:solidFill>
              <a:srgbClr val="17392A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55080" y="2103120"/>
            <a:ext cx="3017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E77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POSSIBLE NEXT STEPS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373368" y="2532888"/>
            <a:ext cx="283464" cy="283464"/>
          </a:xfrm>
          <a:prstGeom prst="ellipse">
            <a:avLst/>
          </a:prstGeom>
          <a:solidFill>
            <a:srgbClr val="315A45"/>
          </a:solidFill>
          <a:ln w="12700">
            <a:solidFill>
              <a:srgbClr val="315A45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73368" y="2542032"/>
            <a:ext cx="2834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80" dirty="0"/>
          </a:p>
        </p:txBody>
      </p:sp>
      <p:sp>
        <p:nvSpPr>
          <p:cNvPr id="19" name="Text 17"/>
          <p:cNvSpPr txBox="1"/>
          <p:nvPr/>
        </p:nvSpPr>
        <p:spPr>
          <a:xfrm>
            <a:off x="6812280" y="2560320"/>
            <a:ext cx="4315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1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Structured restaurant source + freshness checks</a:t>
            </a:r>
            <a:endParaRPr lang="en-US" sz="1110" dirty="0"/>
          </a:p>
        </p:txBody>
      </p:sp>
      <p:sp>
        <p:nvSpPr>
          <p:cNvPr id="20" name="Shape 18"/>
          <p:cNvSpPr/>
          <p:nvPr/>
        </p:nvSpPr>
        <p:spPr>
          <a:xfrm>
            <a:off x="6373368" y="3044952"/>
            <a:ext cx="283464" cy="283464"/>
          </a:xfrm>
          <a:prstGeom prst="ellipse">
            <a:avLst/>
          </a:prstGeom>
          <a:solidFill>
            <a:srgbClr val="315A45"/>
          </a:solidFill>
          <a:ln w="12700">
            <a:solidFill>
              <a:srgbClr val="315A45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73368" y="3054096"/>
            <a:ext cx="2834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80" dirty="0"/>
          </a:p>
        </p:txBody>
      </p:sp>
      <p:sp>
        <p:nvSpPr>
          <p:cNvPr id="22" name="Text 20"/>
          <p:cNvSpPr txBox="1"/>
          <p:nvPr/>
        </p:nvSpPr>
        <p:spPr>
          <a:xfrm>
            <a:off x="6812280" y="3072384"/>
            <a:ext cx="4315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1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 restaurant cards with address, rating and map links</a:t>
            </a:r>
            <a:endParaRPr lang="en-US" sz="1110" dirty="0"/>
          </a:p>
        </p:txBody>
      </p:sp>
      <p:sp>
        <p:nvSpPr>
          <p:cNvPr id="23" name="Shape 21"/>
          <p:cNvSpPr/>
          <p:nvPr/>
        </p:nvSpPr>
        <p:spPr>
          <a:xfrm>
            <a:off x="6373368" y="3557016"/>
            <a:ext cx="283464" cy="283464"/>
          </a:xfrm>
          <a:prstGeom prst="ellipse">
            <a:avLst/>
          </a:prstGeom>
          <a:solidFill>
            <a:srgbClr val="315A45"/>
          </a:solidFill>
          <a:ln w="12700">
            <a:solidFill>
              <a:srgbClr val="315A45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73368" y="3566160"/>
            <a:ext cx="2834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80" dirty="0"/>
          </a:p>
        </p:txBody>
      </p:sp>
      <p:sp>
        <p:nvSpPr>
          <p:cNvPr id="25" name="Text 23"/>
          <p:cNvSpPr txBox="1"/>
          <p:nvPr/>
        </p:nvSpPr>
        <p:spPr>
          <a:xfrm>
            <a:off x="6812280" y="3584448"/>
            <a:ext cx="4315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1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sentiment analysis and review summaries</a:t>
            </a:r>
            <a:endParaRPr lang="en-US" sz="1110" dirty="0"/>
          </a:p>
        </p:txBody>
      </p:sp>
      <p:sp>
        <p:nvSpPr>
          <p:cNvPr id="26" name="Shape 24"/>
          <p:cNvSpPr/>
          <p:nvPr/>
        </p:nvSpPr>
        <p:spPr>
          <a:xfrm>
            <a:off x="6373368" y="4069080"/>
            <a:ext cx="283464" cy="283464"/>
          </a:xfrm>
          <a:prstGeom prst="ellipse">
            <a:avLst/>
          </a:prstGeom>
          <a:solidFill>
            <a:srgbClr val="315A45"/>
          </a:solidFill>
          <a:ln w="12700">
            <a:solidFill>
              <a:srgbClr val="315A45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73368" y="4078224"/>
            <a:ext cx="2834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80" dirty="0"/>
          </a:p>
        </p:txBody>
      </p:sp>
      <p:sp>
        <p:nvSpPr>
          <p:cNvPr id="28" name="Text 26"/>
          <p:cNvSpPr txBox="1"/>
          <p:nvPr/>
        </p:nvSpPr>
        <p:spPr>
          <a:xfrm>
            <a:off x="6812280" y="4096512"/>
            <a:ext cx="4315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1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Dietary filters and allergen-safe guidance</a:t>
            </a:r>
            <a:endParaRPr lang="en-US" sz="1110" dirty="0"/>
          </a:p>
        </p:txBody>
      </p:sp>
      <p:sp>
        <p:nvSpPr>
          <p:cNvPr id="29" name="Shape 27"/>
          <p:cNvSpPr/>
          <p:nvPr/>
        </p:nvSpPr>
        <p:spPr>
          <a:xfrm>
            <a:off x="6373368" y="4581144"/>
            <a:ext cx="283464" cy="283464"/>
          </a:xfrm>
          <a:prstGeom prst="ellipse">
            <a:avLst/>
          </a:prstGeom>
          <a:solidFill>
            <a:srgbClr val="315A45"/>
          </a:solidFill>
          <a:ln w="12700">
            <a:solidFill>
              <a:srgbClr val="315A45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373368" y="4590288"/>
            <a:ext cx="2834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80" dirty="0"/>
          </a:p>
        </p:txBody>
      </p:sp>
      <p:sp>
        <p:nvSpPr>
          <p:cNvPr id="31" name="Text 29"/>
          <p:cNvSpPr txBox="1"/>
          <p:nvPr/>
        </p:nvSpPr>
        <p:spPr>
          <a:xfrm>
            <a:off x="6812280" y="4608576"/>
            <a:ext cx="4315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1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feedback and preference-aware ranking</a:t>
            </a:r>
            <a:endParaRPr lang="en-US" sz="1110" dirty="0"/>
          </a:p>
        </p:txBody>
      </p:sp>
      <p:sp>
        <p:nvSpPr>
          <p:cNvPr id="32" name="Text 30"/>
          <p:cNvSpPr txBox="1"/>
          <p:nvPr/>
        </p:nvSpPr>
        <p:spPr>
          <a:xfrm>
            <a:off x="621792" y="6199632"/>
            <a:ext cx="10789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F79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 warning text is visible on the website at the time of review; confirm site and webhook status for any later presentation.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214D3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502920"/>
            <a:ext cx="6830568" cy="5440680"/>
          </a:xfrm>
          <a:prstGeom prst="roundRect">
            <a:avLst>
              <a:gd name="adj" fmla="val 3361"/>
            </a:avLst>
          </a:prstGeom>
          <a:solidFill>
            <a:srgbClr val="17392A"/>
          </a:solidFill>
          <a:ln w="12700">
            <a:solidFill>
              <a:srgbClr val="17392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" y="868680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214D3A"/>
          </a:solidFill>
          <a:ln w="12700">
            <a:solidFill>
              <a:srgbClr val="214D3A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9264" y="8732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64" b="1" dirty="0">
                <a:solidFill>
                  <a:srgbClr val="E77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✦</a:t>
            </a:r>
            <a:endParaRPr lang="en-US" sz="1664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91440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FOODIEFINDER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1783080"/>
            <a:ext cx="57150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Making restaurant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discovery more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conversational.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987552" y="3886200"/>
            <a:ext cx="5349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D5E3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lightweight web interface + connected chatbot workflow, built as an ML/NLP mini-project.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87552" y="4956048"/>
            <a:ext cx="1298448" cy="274320"/>
          </a:xfrm>
          <a:prstGeom prst="roundRect">
            <a:avLst>
              <a:gd name="adj" fmla="val 40000"/>
            </a:avLst>
          </a:prstGeom>
          <a:solidFill>
            <a:srgbClr val="315A45"/>
          </a:solidFill>
          <a:ln w="12700">
            <a:solidFill>
              <a:srgbClr val="315A45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60704" y="4965192"/>
            <a:ext cx="1152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35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8001000" y="85953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E77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LINKS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8001000" y="129844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39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12" name="Text 10">
            <a:hlinkClick r:id="rId1" tooltip=""/>
          </p:cNvPr>
          <p:cNvSpPr txBox="1"/>
          <p:nvPr/>
        </p:nvSpPr>
        <p:spPr>
          <a:xfrm>
            <a:off x="8001000" y="1609344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214D3A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mkcode11.github.io/foodiefinder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01000" y="2176272"/>
            <a:ext cx="3410712" cy="0"/>
          </a:xfrm>
          <a:prstGeom prst="line">
            <a:avLst/>
          </a:prstGeom>
          <a:noFill/>
          <a:ln w="12700">
            <a:solidFill>
              <a:srgbClr val="E8E8D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01000" y="242316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39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repository</a:t>
            </a:r>
            <a:endParaRPr lang="en-US" sz="1300" dirty="0"/>
          </a:p>
        </p:txBody>
      </p:sp>
      <p:sp>
        <p:nvSpPr>
          <p:cNvPr id="15" name="Text 13">
            <a:hlinkClick r:id="rId2" tooltip=""/>
          </p:cNvPr>
          <p:cNvSpPr txBox="1"/>
          <p:nvPr/>
        </p:nvSpPr>
        <p:spPr>
          <a:xfrm>
            <a:off x="8001000" y="2734056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u="sng" dirty="0">
                <a:solidFill>
                  <a:srgbClr val="214D3A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github.com/mkcode11/foodiefinder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01000" y="3300984"/>
            <a:ext cx="3410712" cy="0"/>
          </a:xfrm>
          <a:prstGeom prst="line">
            <a:avLst/>
          </a:prstGeom>
          <a:noFill/>
          <a:ln w="12700">
            <a:solidFill>
              <a:srgbClr val="E8E8D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01000" y="354787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39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28432" y="3995928"/>
            <a:ext cx="109728" cy="109728"/>
          </a:xfrm>
          <a:prstGeom prst="ellipse">
            <a:avLst/>
          </a:prstGeom>
          <a:solidFill>
            <a:srgbClr val="E77B45"/>
          </a:solidFill>
          <a:ln w="12700">
            <a:solidFill>
              <a:srgbClr val="E77B45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38744" y="3922776"/>
            <a:ext cx="3172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202B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Natural-language food requests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8028432" y="4453128"/>
            <a:ext cx="109728" cy="109728"/>
          </a:xfrm>
          <a:prstGeom prst="ellipse">
            <a:avLst/>
          </a:prstGeom>
          <a:solidFill>
            <a:srgbClr val="E77B45"/>
          </a:solidFill>
          <a:ln w="12700">
            <a:solidFill>
              <a:srgbClr val="E77B45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38744" y="4379976"/>
            <a:ext cx="3172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202B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n8n webhook-based conversation flow</a:t>
            </a:r>
            <a:endParaRPr lang="en-US" sz="1130" dirty="0"/>
          </a:p>
        </p:txBody>
      </p:sp>
      <p:sp>
        <p:nvSpPr>
          <p:cNvPr id="22" name="Shape 20"/>
          <p:cNvSpPr/>
          <p:nvPr/>
        </p:nvSpPr>
        <p:spPr>
          <a:xfrm>
            <a:off x="8028432" y="4956048"/>
            <a:ext cx="109728" cy="109728"/>
          </a:xfrm>
          <a:prstGeom prst="ellipse">
            <a:avLst/>
          </a:prstGeom>
          <a:solidFill>
            <a:srgbClr val="E77B45"/>
          </a:solidFill>
          <a:ln w="12700">
            <a:solidFill>
              <a:srgbClr val="E77B45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38744" y="4882896"/>
            <a:ext cx="3172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202B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Room to enhance recommendation data and intelligence</a:t>
            </a:r>
            <a:endParaRPr lang="en-US" sz="1130" dirty="0"/>
          </a:p>
        </p:txBody>
      </p:sp>
      <p:sp>
        <p:nvSpPr>
          <p:cNvPr id="24" name="Text 22"/>
          <p:cNvSpPr txBox="1"/>
          <p:nvPr/>
        </p:nvSpPr>
        <p:spPr>
          <a:xfrm>
            <a:off x="8001000" y="56509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E77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Questions?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214D3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FoodieFinder — AI Restaurant Recommendation Chatbot</dc:title>
  <dc:subject>FoodieFinder AI Restaurant Recommendation Chatbot</dc:subject>
  <dc:creator>OpenAI</dc:creator>
  <cp:lastModifiedBy>OpenAI</cp:lastModifiedBy>
  <cp:revision>1</cp:revision>
  <dcterms:created xsi:type="dcterms:W3CDTF">2026-10-18T15:49:11Z</dcterms:created>
  <dcterms:modified xsi:type="dcterms:W3CDTF">2026-10-18T15:49:11Z</dcterms:modified>
</cp:coreProperties>
</file>